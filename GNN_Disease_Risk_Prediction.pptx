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75" d="100"/>
          <a:sy n="175" d="100"/>
        </p:scale>
        <p:origin x="34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35530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6400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365760"/>
            <a:ext cx="502920" cy="502920"/>
          </a:xfrm>
          <a:prstGeom prst="ellipse">
            <a:avLst/>
          </a:prstGeom>
          <a:solidFill>
            <a:srgbClr val="0D9488">
              <a:alpha val="25000"/>
            </a:srgbClr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38160" y="1005840"/>
            <a:ext cx="320040" cy="320040"/>
          </a:xfrm>
          <a:prstGeom prst="ellipse">
            <a:avLst/>
          </a:prstGeom>
          <a:solidFill>
            <a:srgbClr val="0D9488">
              <a:alpha val="25000"/>
            </a:srgbClr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0" y="1280160"/>
            <a:ext cx="256032" cy="256032"/>
          </a:xfrm>
          <a:prstGeom prst="ellipse">
            <a:avLst/>
          </a:prstGeom>
          <a:solidFill>
            <a:srgbClr val="0D9488">
              <a:alpha val="25000"/>
            </a:srgbClr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503920" y="320040"/>
            <a:ext cx="201168" cy="201168"/>
          </a:xfrm>
          <a:prstGeom prst="ellipse">
            <a:avLst/>
          </a:prstGeom>
          <a:solidFill>
            <a:srgbClr val="0D9488">
              <a:alpha val="25000"/>
            </a:srgbClr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589520" y="1737360"/>
            <a:ext cx="384048" cy="384048"/>
          </a:xfrm>
          <a:prstGeom prst="ellipse">
            <a:avLst/>
          </a:prstGeom>
          <a:solidFill>
            <a:srgbClr val="0D9488">
              <a:alpha val="25000"/>
            </a:srgbClr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0" y="1554480"/>
            <a:ext cx="164592" cy="164592"/>
          </a:xfrm>
          <a:prstGeom prst="ellipse">
            <a:avLst/>
          </a:prstGeom>
          <a:solidFill>
            <a:srgbClr val="0D9488">
              <a:alpha val="25000"/>
            </a:srgbClr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79208" y="612648"/>
            <a:ext cx="758952" cy="393192"/>
          </a:xfrm>
          <a:prstGeom prst="line">
            <a:avLst/>
          </a:prstGeom>
          <a:noFill/>
          <a:ln w="9525">
            <a:solidFill>
              <a:srgbClr val="14B8A6">
                <a:alpha val="5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882128" y="1170432"/>
            <a:ext cx="640080" cy="384048"/>
          </a:xfrm>
          <a:prstGeom prst="line">
            <a:avLst/>
          </a:prstGeom>
          <a:noFill/>
          <a:ln w="9525">
            <a:solidFill>
              <a:srgbClr val="14B8A6">
                <a:alpha val="5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39712" y="1280160"/>
            <a:ext cx="749808" cy="457200"/>
          </a:xfrm>
          <a:prstGeom prst="line">
            <a:avLst/>
          </a:prstGeom>
          <a:noFill/>
          <a:ln w="9525">
            <a:solidFill>
              <a:srgbClr val="14B8A6">
                <a:alpha val="5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11480" y="502920"/>
            <a:ext cx="2560320" cy="292608"/>
          </a:xfrm>
          <a:prstGeom prst="roundRect">
            <a:avLst>
              <a:gd name="adj" fmla="val 31250"/>
            </a:avLst>
          </a:prstGeom>
          <a:solidFill>
            <a:srgbClr val="0D9488">
              <a:alpha val="80000"/>
            </a:srgbClr>
          </a:solidFill>
          <a:ln w="9525">
            <a:solidFill>
              <a:srgbClr val="14B8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50292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Machine Learning  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11480" y="105156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Risk Prediction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411480" y="178308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Graph Neural Networks</a:t>
            </a:r>
            <a:endParaRPr lang="en-US" sz="3200" dirty="0"/>
          </a:p>
        </p:txBody>
      </p:sp>
      <p:sp>
        <p:nvSpPr>
          <p:cNvPr id="17" name="Shape 15"/>
          <p:cNvSpPr/>
          <p:nvPr/>
        </p:nvSpPr>
        <p:spPr>
          <a:xfrm>
            <a:off x="411480" y="2514600"/>
            <a:ext cx="5029200" cy="36576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263347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UCI Heart Disease &amp; Pima Diabetes Datasets  ·  GCN &amp; GAT Node Classification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64592" y="4160520"/>
            <a:ext cx="8979408" cy="982980"/>
          </a:xfrm>
          <a:prstGeom prst="rect">
            <a:avLst/>
          </a:prstGeom>
          <a:solidFill>
            <a:srgbClr val="1A2B55"/>
          </a:solidFill>
          <a:ln w="12700">
            <a:solidFill>
              <a:srgbClr val="1A2B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4206240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4B8A6"/>
                </a:solidFill>
              </a:rPr>
              <a:t>1,688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548640" y="463600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Patients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697480" y="4206240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4B8A6"/>
                </a:solidFill>
              </a:rPr>
              <a:t>20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2697480" y="463600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Features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46320" y="4206240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4B8A6"/>
                </a:solidFill>
              </a:rPr>
              <a:t>16,880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4846320" y="463600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Graph Edges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995160" y="4206240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4B8A6"/>
                </a:solidFill>
              </a:rPr>
              <a:t>6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6995160" y="463600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Models Compared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Motivation &amp; Objective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229600" y="0"/>
            <a:ext cx="731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Slide 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960120"/>
            <a:ext cx="41148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960120"/>
            <a:ext cx="4114800" cy="41148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96012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The Problem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1463040"/>
            <a:ext cx="388620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Traditional ML treats each patient independently</a:t>
            </a:r>
            <a:endParaRPr lang="en-US" sz="12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Ignores real-world similarity between patients with shared symptoms, risk factors, or disease patterns</a:t>
            </a:r>
            <a:endParaRPr lang="en-US" sz="12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Heart disease and diabetes share overlapping clinical features — age, blood pressure, glucose — yet are modelled in isolation</a:t>
            </a:r>
            <a:endParaRPr lang="en-US" sz="12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Small datasets (UCI: 920 · Pima: 768) limit individual model performance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960120"/>
            <a:ext cx="41148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960120"/>
            <a:ext cx="4114800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96012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Our Approach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46320" y="1463040"/>
            <a:ext cx="388620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Model 1,688 patients as nodes in a patient similarity graph</a:t>
            </a:r>
            <a:endParaRPr lang="en-US" sz="12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Connect each patient to their 5 most clinically similar neighbours (cosine kNN on feature vectors)</a:t>
            </a:r>
            <a:endParaRPr lang="en-US" sz="12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Train Graph Convolutional Network (GCN) and Graph Attention Network (GAT) to predict disease risk from both node features AND graph structure</a:t>
            </a:r>
            <a:endParaRPr lang="en-US" sz="12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Compare GNN performance vs. Logistic Regression, Random Forest, and Gradient Boosting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0040" y="4553712"/>
            <a:ext cx="8549640" cy="438912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4553712"/>
            <a:ext cx="8366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3E"/>
                </a:solidFill>
              </a:rPr>
              <a:t>Research Question: </a:t>
            </a:r>
            <a:r>
              <a:rPr lang="en-US" sz="1150" dirty="0">
                <a:solidFill>
                  <a:srgbClr val="1E293B"/>
                </a:solidFill>
              </a:rPr>
              <a:t>Does incorporating patient similarity graph structure improve disease risk prediction beyond feature-only ML models?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Datasets &amp; Evaluation Metrics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229600" y="0"/>
            <a:ext cx="731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Slide 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914400"/>
            <a:ext cx="402336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914400"/>
            <a:ext cx="4023360" cy="38404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91440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B8A6"/>
                </a:solidFill>
              </a:rPr>
              <a:t>UCI Heart Disease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1371600"/>
            <a:ext cx="37947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</a:rPr>
              <a:t>920 patients · 4 hospital sub-datasets</a:t>
            </a:r>
            <a:endParaRPr lang="en-US" sz="11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</a:rPr>
              <a:t>16 raw features → 20 after encoding</a:t>
            </a:r>
            <a:endParaRPr lang="en-US" sz="11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</a:rPr>
              <a:t>Target: num (0–4) → binarised 0/1</a:t>
            </a:r>
            <a:endParaRPr lang="en-US" sz="11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</a:rPr>
              <a:t>Key features: age, trestbps, chol, thalch, exang, oldpeak</a:t>
            </a:r>
            <a:endParaRPr lang="en-US" sz="11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</a:rPr>
              <a:t>Missing: ca (66%), thal (53%) — dropped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0" y="914400"/>
            <a:ext cx="425196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0" y="914400"/>
            <a:ext cx="42519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914400"/>
            <a:ext cx="406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Pima Indians Diabetes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663440" y="1371600"/>
            <a:ext cx="40233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</a:rPr>
              <a:t>768 patients · all female, age ≥ 21</a:t>
            </a:r>
            <a:endParaRPr lang="en-US" sz="11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</a:rPr>
              <a:t>8 features + binary Outcome label</a:t>
            </a:r>
            <a:endParaRPr lang="en-US" sz="11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</a:rPr>
              <a:t>Key features: Glucose, BMI, Insulin, BloodPressure, Age</a:t>
            </a:r>
            <a:endParaRPr lang="en-US" sz="11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</a:rPr>
              <a:t>Zero-coded missings replaced by column median</a:t>
            </a:r>
            <a:endParaRPr lang="en-US" sz="11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</a:rPr>
              <a:t>Shared features aligned: Age→age · BloodPressure→trestbps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20040" y="3401568"/>
            <a:ext cx="8503920" cy="457200"/>
          </a:xfrm>
          <a:prstGeom prst="rect">
            <a:avLst/>
          </a:prstGeom>
          <a:solidFill>
            <a:srgbClr val="1A2B55"/>
          </a:solidFill>
          <a:ln w="12700">
            <a:solidFill>
              <a:srgbClr val="1A2B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410712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B8A6"/>
                </a:solidFill>
              </a:rPr>
              <a:t>1,688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02920" y="363016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total patients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587752" y="3410712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B8A6"/>
                </a:solidFill>
              </a:rPr>
              <a:t>70 / 15 / 15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587752" y="363016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train / val / test %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672584" y="3410712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B8A6"/>
                </a:solidFill>
              </a:rPr>
              <a:t>411 : 277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672584" y="363016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healthy : disease (merged)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757416" y="3410712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B8A6"/>
                </a:solidFill>
              </a:rPr>
              <a:t>Stratified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757416" y="363016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split strategy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20040" y="3950208"/>
            <a:ext cx="85039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398678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</a:rPr>
              <a:t>Evaluation Metrics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11480" y="4315968"/>
            <a:ext cx="1508760" cy="502920"/>
          </a:xfrm>
          <a:prstGeom prst="rect">
            <a:avLst/>
          </a:prstGeom>
          <a:solidFill>
            <a:srgbClr val="CCFBF1"/>
          </a:solidFill>
          <a:ln w="9525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4315968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3E"/>
                </a:solidFill>
              </a:rPr>
              <a:t>Accuracy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11480" y="4562856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overall correct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093976" y="4315968"/>
            <a:ext cx="1508760" cy="502920"/>
          </a:xfrm>
          <a:prstGeom prst="rect">
            <a:avLst/>
          </a:prstGeom>
          <a:solidFill>
            <a:srgbClr val="CCFBF1"/>
          </a:solidFill>
          <a:ln w="9525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093976" y="4315968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3E"/>
                </a:solidFill>
              </a:rPr>
              <a:t>Precision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093976" y="4562856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disease precision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776472" y="4315968"/>
            <a:ext cx="1508760" cy="502920"/>
          </a:xfrm>
          <a:prstGeom prst="rect">
            <a:avLst/>
          </a:prstGeom>
          <a:solidFill>
            <a:srgbClr val="CCFBF1"/>
          </a:solidFill>
          <a:ln w="9525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776472" y="4315968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3E"/>
                </a:solidFill>
              </a:rPr>
              <a:t>Recall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776472" y="4562856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disease recall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458968" y="4315968"/>
            <a:ext cx="1508760" cy="502920"/>
          </a:xfrm>
          <a:prstGeom prst="rect">
            <a:avLst/>
          </a:prstGeom>
          <a:solidFill>
            <a:srgbClr val="CCFBF1"/>
          </a:solidFill>
          <a:ln w="9525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58968" y="4315968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3E"/>
                </a:solidFill>
              </a:rPr>
              <a:t>F1-score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458968" y="4562856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harmonic mean P+R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7141464" y="4315968"/>
            <a:ext cx="1508760" cy="502920"/>
          </a:xfrm>
          <a:prstGeom prst="rect">
            <a:avLst/>
          </a:prstGeom>
          <a:solidFill>
            <a:srgbClr val="CCFBF1"/>
          </a:solidFill>
          <a:ln w="9525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141464" y="4315968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3E"/>
                </a:solidFill>
              </a:rPr>
              <a:t>ROC-AUC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141464" y="4562856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ranking quality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B55"/>
          </a:solidFill>
          <a:ln w="12700">
            <a:solidFill>
              <a:srgbClr val="1A2B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Methodology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229600" y="0"/>
            <a:ext cx="731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Slide 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2011680" cy="3931920"/>
          </a:xfrm>
          <a:prstGeom prst="rect">
            <a:avLst/>
          </a:prstGeom>
          <a:solidFill>
            <a:srgbClr val="1A2B55"/>
          </a:solidFill>
          <a:ln w="9525">
            <a:solidFill>
              <a:srgbClr val="1E3A6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87552" y="1005840"/>
            <a:ext cx="566928" cy="566928"/>
          </a:xfrm>
          <a:prstGeom prst="ellipse">
            <a:avLst/>
          </a:prstGeom>
          <a:solidFill>
            <a:srgbClr val="0D9488"/>
          </a:solidFill>
          <a:ln w="9525">
            <a:solidFill>
              <a:srgbClr val="14B8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7552" y="10058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47472" y="1645920"/>
            <a:ext cx="1883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B8A6"/>
                </a:solidFill>
              </a:rPr>
              <a:t>Preprocessing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029968"/>
            <a:ext cx="1645920" cy="27432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121408"/>
            <a:ext cx="18288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</a:rPr>
              <a:t>Drop ca, thal, slope (&gt;34% missing)</a:t>
            </a:r>
            <a:endParaRPr lang="en-US" sz="10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</a:rPr>
              <a:t>Encode categoricals (cp, restecg, sex)</a:t>
            </a:r>
            <a:endParaRPr lang="en-US" sz="10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</a:rPr>
              <a:t>Median impute remaining NaNs</a:t>
            </a:r>
            <a:endParaRPr lang="en-US" sz="10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</a:rPr>
              <a:t>Align &amp; merge both datasets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286000" y="2926080"/>
            <a:ext cx="164592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86000" y="2834640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D9488"/>
                </a:solidFill>
              </a:rPr>
              <a:t>→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450592" y="960120"/>
            <a:ext cx="2011680" cy="3931920"/>
          </a:xfrm>
          <a:prstGeom prst="rect">
            <a:avLst/>
          </a:prstGeom>
          <a:solidFill>
            <a:srgbClr val="1A2B55"/>
          </a:solidFill>
          <a:ln w="9525">
            <a:solidFill>
              <a:srgbClr val="1E3A6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163824" y="1005840"/>
            <a:ext cx="566928" cy="566928"/>
          </a:xfrm>
          <a:prstGeom prst="ellipse">
            <a:avLst/>
          </a:prstGeom>
          <a:solidFill>
            <a:srgbClr val="0D9488"/>
          </a:solidFill>
          <a:ln w="9525">
            <a:solidFill>
              <a:srgbClr val="14B8A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63824" y="10058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2523744" y="1645920"/>
            <a:ext cx="1883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B8A6"/>
                </a:solidFill>
              </a:rPr>
              <a:t>Graph Construction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633472" y="2029968"/>
            <a:ext cx="1645920" cy="27432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42032" y="2121408"/>
            <a:ext cx="18288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</a:rPr>
              <a:t>Nodes = 1,688 patients</a:t>
            </a:r>
            <a:endParaRPr lang="en-US" sz="10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</a:rPr>
              <a:t>Edges = kNN (k=5, cosine similarity)</a:t>
            </a:r>
            <a:endParaRPr lang="en-US" sz="10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</a:rPr>
              <a:t>Feature matrix X: 20 normalized features</a:t>
            </a:r>
            <a:endParaRPr lang="en-US" sz="10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</a:rPr>
              <a:t>Class weights for imbalance handling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462272" y="2926080"/>
            <a:ext cx="164592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62272" y="2834640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D9488"/>
                </a:solidFill>
              </a:rPr>
              <a:t>→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626864" y="960120"/>
            <a:ext cx="2011680" cy="3931920"/>
          </a:xfrm>
          <a:prstGeom prst="rect">
            <a:avLst/>
          </a:prstGeom>
          <a:solidFill>
            <a:srgbClr val="1A2B55"/>
          </a:solidFill>
          <a:ln w="9525">
            <a:solidFill>
              <a:srgbClr val="1E3A6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340096" y="1005840"/>
            <a:ext cx="566928" cy="566928"/>
          </a:xfrm>
          <a:prstGeom prst="ellipse">
            <a:avLst/>
          </a:prstGeom>
          <a:solidFill>
            <a:srgbClr val="0D9488"/>
          </a:solidFill>
          <a:ln w="9525">
            <a:solidFill>
              <a:srgbClr val="14B8A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40096" y="10058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700016" y="1645920"/>
            <a:ext cx="1883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B8A6"/>
                </a:solidFill>
              </a:rPr>
              <a:t>GNN Training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809744" y="2029968"/>
            <a:ext cx="1645920" cy="27432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18304" y="2121408"/>
            <a:ext cx="18288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</a:rPr>
              <a:t>GCN: 2× GCNConv + BatchNorm + Dropout</a:t>
            </a:r>
            <a:endParaRPr lang="en-US" sz="10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</a:rPr>
              <a:t>GAT: 2× GATConv, 8 attention heads</a:t>
            </a:r>
            <a:endParaRPr lang="en-US" sz="10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</a:rPr>
              <a:t>Adam, lr=0.01, early stopping (patience=40)</a:t>
            </a:r>
            <a:endParaRPr lang="en-US" sz="10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</a:rPr>
              <a:t>Loss: CrossEntropy with class weights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638544" y="2926080"/>
            <a:ext cx="164592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38544" y="2834640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D9488"/>
                </a:solidFill>
              </a:rPr>
              <a:t>→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803136" y="960120"/>
            <a:ext cx="2011680" cy="3931920"/>
          </a:xfrm>
          <a:prstGeom prst="rect">
            <a:avLst/>
          </a:prstGeom>
          <a:solidFill>
            <a:srgbClr val="1A2B55"/>
          </a:solidFill>
          <a:ln w="9525">
            <a:solidFill>
              <a:srgbClr val="1E3A6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516368" y="1005840"/>
            <a:ext cx="566928" cy="566928"/>
          </a:xfrm>
          <a:prstGeom prst="ellipse">
            <a:avLst/>
          </a:prstGeom>
          <a:solidFill>
            <a:srgbClr val="0D9488"/>
          </a:solidFill>
          <a:ln w="9525">
            <a:solidFill>
              <a:srgbClr val="14B8A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16368" y="10058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6876288" y="1645920"/>
            <a:ext cx="1883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B8A6"/>
                </a:solidFill>
              </a:rPr>
              <a:t>Baseline Comparison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986016" y="2029968"/>
            <a:ext cx="1645920" cy="27432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94576" y="2121408"/>
            <a:ext cx="18288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</a:rPr>
              <a:t>Logistic Regression (class_weight=balanced)</a:t>
            </a:r>
            <a:endParaRPr lang="en-US" sz="10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</a:rPr>
              <a:t>Random Forest (200 trees, max_depth=10)</a:t>
            </a:r>
            <a:endParaRPr lang="en-US" sz="10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</a:rPr>
              <a:t>Gradient Boosting (200 trees, lr=0.05)</a:t>
            </a:r>
            <a:endParaRPr lang="en-US" sz="10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</a:rPr>
              <a:t>Same feature matrix X — no graph structure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274320" y="4736592"/>
            <a:ext cx="8595360" cy="292608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11480" y="4736592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4B8A6"/>
                </a:solidFill>
              </a:rPr>
              <a:t>Ablation: </a:t>
            </a:r>
            <a:r>
              <a:rPr lang="en-US" sz="1050" dirty="0">
                <a:solidFill>
                  <a:srgbClr val="94A3B8"/>
                </a:solidFill>
              </a:rPr>
              <a:t>MLP trained on same features with NO graph edges — isolates the contribution of graph structure to prediction improvement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How the GNN Works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229600" y="0"/>
            <a:ext cx="731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Slide 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914400"/>
            <a:ext cx="38404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914400"/>
            <a:ext cx="3840480" cy="3657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914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B8A6"/>
                </a:solidFill>
              </a:rPr>
              <a:t>Patient Similarity Graph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051560" y="1737360"/>
            <a:ext cx="100584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51560" y="1737360"/>
            <a:ext cx="548640" cy="64008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057400" y="1600200"/>
            <a:ext cx="0" cy="77724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057400" y="1600200"/>
            <a:ext cx="731520" cy="27432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600200" y="2377440"/>
            <a:ext cx="822960" cy="27432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88920" y="1874520"/>
            <a:ext cx="0" cy="77724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88920" y="1874520"/>
            <a:ext cx="548640" cy="54864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423160" y="2651760"/>
            <a:ext cx="9144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4400" y="1600200"/>
            <a:ext cx="274320" cy="2743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920240" y="1463040"/>
            <a:ext cx="274320" cy="2743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463040" y="2240280"/>
            <a:ext cx="274320" cy="2743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651760" y="1737360"/>
            <a:ext cx="274320" cy="27432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86000" y="2514600"/>
            <a:ext cx="274320" cy="27432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0" y="2286000"/>
            <a:ext cx="274320" cy="27432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288036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Each patient = node</a:t>
            </a:r>
            <a:endParaRPr lang="en-US" sz="10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Edge = cosine similarity ≥ k-NN threshold</a:t>
            </a:r>
            <a:endParaRPr lang="en-US" sz="10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Green = healthy  ·  Red = disease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11694" y="3611880"/>
            <a:ext cx="3840480" cy="493776"/>
          </a:xfrm>
          <a:prstGeom prst="rect">
            <a:avLst/>
          </a:prstGeom>
          <a:solidFill>
            <a:srgbClr val="CCFBF1"/>
          </a:solidFill>
          <a:ln w="9525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3511296"/>
            <a:ext cx="3657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0D1B3E"/>
                </a:solidFill>
              </a:rPr>
              <a:t>Node feature vector: [age, trestbps, glucose, chol, bmi, exang, oldpeak, sex, insulin, ... ]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0" y="914400"/>
            <a:ext cx="42519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0" y="914400"/>
            <a:ext cx="4251960" cy="3657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63440" y="914400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GCN Message Passing (per layer)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709160" y="1417320"/>
            <a:ext cx="3931920" cy="5029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0" y="14173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Input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754880" y="1673352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CFBF1"/>
                </a:solidFill>
              </a:rPr>
              <a:t>20 features per node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583680" y="1911096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9488"/>
                </a:solidFill>
              </a:rPr>
              <a:t>↓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709160" y="2075688"/>
            <a:ext cx="393192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54880" y="207568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GCNConv(20→64) + BatchNorm + ReLU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754880" y="233172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CFBF1"/>
                </a:solidFill>
              </a:rPr>
              <a:t>aggregates 5-hop neighbours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583680" y="2569464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9488"/>
                </a:solidFill>
              </a:rPr>
              <a:t>↓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709160" y="2734056"/>
            <a:ext cx="393192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54880" y="273405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GCNConv(64→32) + BatchNorm + ReLU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4754880" y="2990088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CFBF1"/>
                </a:solidFill>
              </a:rPr>
              <a:t>2nd order neighbourhood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583680" y="3227832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9488"/>
                </a:solidFill>
              </a:rPr>
              <a:t>↓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709160" y="3392424"/>
            <a:ext cx="3931920" cy="502920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54880" y="339242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Linear(32→2) → Softmax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4754880" y="3648456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CFBF1"/>
                </a:solidFill>
              </a:rPr>
              <a:t>disease probability per node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572000" y="4279392"/>
            <a:ext cx="4251960" cy="566928"/>
          </a:xfrm>
          <a:prstGeom prst="rect">
            <a:avLst/>
          </a:prstGeom>
          <a:solidFill>
            <a:srgbClr val="CCFBF1"/>
          </a:solidFill>
          <a:ln w="9525">
            <a:solidFill>
              <a:srgbClr val="0D948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663440" y="4297680"/>
            <a:ext cx="4069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3E"/>
                </a:solidFill>
              </a:rPr>
              <a:t>GAT variant: </a:t>
            </a:r>
            <a:r>
              <a:rPr lang="en-US" sz="1000" dirty="0">
                <a:solidFill>
                  <a:srgbClr val="1E293B"/>
                </a:solidFill>
              </a:rPr>
              <a:t>GATConv with 8 attention heads learns which neighbours matter most — e.g. two patients with similar glucose AND age receive higher attention weight.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320040" y="4279392"/>
            <a:ext cx="38404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11480" y="4297680"/>
            <a:ext cx="3611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</a:rPr>
              <a:t>Key insight: </a:t>
            </a:r>
            <a:r>
              <a:rPr lang="en-US" sz="1000" dirty="0">
                <a:solidFill>
                  <a:srgbClr val="1E293B"/>
                </a:solidFill>
              </a:rPr>
              <a:t>After 2 layers, each patient node has 'seen' its direct neighbours AND their neighbours — its embedding captures clinical context, not just raw measurements.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Results: Model Performance Comparison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229600" y="0"/>
            <a:ext cx="731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Slide 6</a:t>
            </a:r>
            <a:endParaRPr lang="en-US" sz="900" dirty="0"/>
          </a:p>
        </p:txBody>
      </p:sp>
      <p:pic>
        <p:nvPicPr>
          <p:cNvPr id="6" name="Image 0" descr="/home/claude/eval_model_comparison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822960"/>
            <a:ext cx="5394960" cy="29260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806440" y="822960"/>
            <a:ext cx="315468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806440" y="822960"/>
            <a:ext cx="3154680" cy="420624"/>
          </a:xfrm>
          <a:prstGeom prst="rect">
            <a:avLst/>
          </a:prstGeom>
          <a:solidFill>
            <a:srgbClr val="0D1B3E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870448" y="822960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Model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589520" y="822960"/>
            <a:ext cx="640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F1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8211312" y="822960"/>
            <a:ext cx="685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AUC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806440" y="1243584"/>
            <a:ext cx="3154680" cy="420624"/>
          </a:xfrm>
          <a:prstGeom prst="rect">
            <a:avLst/>
          </a:prstGeom>
          <a:solidFill>
            <a:srgbClr val="CCFBF1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870448" y="1243584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</a:rPr>
              <a:t>GCN (graph)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7589520" y="1243584"/>
            <a:ext cx="640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9488"/>
                </a:solidFill>
              </a:rPr>
              <a:t>0.747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8211312" y="1243584"/>
            <a:ext cx="685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9488"/>
                </a:solidFill>
              </a:rPr>
              <a:t>0.835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806440" y="1664208"/>
            <a:ext cx="3154680" cy="420624"/>
          </a:xfrm>
          <a:prstGeom prst="rect">
            <a:avLst/>
          </a:prstGeom>
          <a:solidFill>
            <a:srgbClr val="CCFBF1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870448" y="1664208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</a:rPr>
              <a:t>GAT (graph)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7589520" y="1664208"/>
            <a:ext cx="640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9488"/>
                </a:solidFill>
              </a:rPr>
              <a:t>0.765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8211312" y="1664208"/>
            <a:ext cx="685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9488"/>
                </a:solidFill>
              </a:rPr>
              <a:t>0.828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5806440" y="2084832"/>
            <a:ext cx="3154680" cy="420624"/>
          </a:xfrm>
          <a:prstGeom prst="rect">
            <a:avLst/>
          </a:prstGeom>
          <a:solidFill>
            <a:srgbClr val="CCFBF1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870448" y="2084832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</a:rPr>
              <a:t>MLP (no-graph)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7589520" y="2084832"/>
            <a:ext cx="640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9488"/>
                </a:solidFill>
              </a:rPr>
              <a:t>0.760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8211312" y="2084832"/>
            <a:ext cx="685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9488"/>
                </a:solidFill>
              </a:rPr>
              <a:t>0.833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5806440" y="2505456"/>
            <a:ext cx="31546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870448" y="2505456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Logistic Reg.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7589520" y="2505456"/>
            <a:ext cx="640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0.776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8211312" y="2505456"/>
            <a:ext cx="685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0.838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5806440" y="2926080"/>
            <a:ext cx="31546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870448" y="2926080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Random Forest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7589520" y="2926080"/>
            <a:ext cx="640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0.769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8211312" y="2926080"/>
            <a:ext cx="685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0.848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5806440" y="3346704"/>
            <a:ext cx="31546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870448" y="3346704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Grad. Boosting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7589520" y="3346704"/>
            <a:ext cx="640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0.751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8211312" y="3346704"/>
            <a:ext cx="685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0.845</a:t>
            </a:r>
            <a:endParaRPr lang="en-US" sz="1000" dirty="0"/>
          </a:p>
        </p:txBody>
      </p:sp>
      <p:pic>
        <p:nvPicPr>
          <p:cNvPr id="36" name="Image 1" descr="/home/claude/eval_roc_curv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3794760"/>
            <a:ext cx="5029200" cy="1188720"/>
          </a:xfrm>
          <a:prstGeom prst="rect">
            <a:avLst/>
          </a:prstGeom>
        </p:spPr>
      </p:pic>
      <p:sp>
        <p:nvSpPr>
          <p:cNvPr id="37" name="Shape 33"/>
          <p:cNvSpPr/>
          <p:nvPr/>
        </p:nvSpPr>
        <p:spPr>
          <a:xfrm>
            <a:off x="5486400" y="3895344"/>
            <a:ext cx="3429000" cy="1133856"/>
          </a:xfrm>
          <a:prstGeom prst="rect">
            <a:avLst/>
          </a:prstGeom>
          <a:solidFill>
            <a:srgbClr val="1A2B55"/>
          </a:solidFill>
          <a:ln w="9525">
            <a:solidFill>
              <a:srgbClr val="1E3A6E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5596128" y="387705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B8A6"/>
                </a:solidFill>
              </a:rPr>
              <a:t>Key Takeaway</a:t>
            </a:r>
            <a:endParaRPr lang="en-US" sz="1100" dirty="0"/>
          </a:p>
        </p:txBody>
      </p:sp>
      <p:sp>
        <p:nvSpPr>
          <p:cNvPr id="39" name="Text 35"/>
          <p:cNvSpPr/>
          <p:nvPr/>
        </p:nvSpPr>
        <p:spPr>
          <a:xfrm>
            <a:off x="5596128" y="4133088"/>
            <a:ext cx="320040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GAT achieves best F1 (0.765). All models achieve AUC 0.83–0.85. GNNs are competitive with Random Forest, suggesting graph structure captures meaningful patient similarity.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Results: Ablation Study &amp; Error Analysis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229600" y="0"/>
            <a:ext cx="731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Slide 7</a:t>
            </a:r>
            <a:endParaRPr lang="en-US" sz="900" dirty="0"/>
          </a:p>
        </p:txBody>
      </p:sp>
      <p:pic>
        <p:nvPicPr>
          <p:cNvPr id="6" name="Image 0" descr="/home/claude/eval_ablation_summa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822960"/>
            <a:ext cx="4846320" cy="2331720"/>
          </a:xfrm>
          <a:prstGeom prst="rect">
            <a:avLst/>
          </a:prstGeom>
        </p:spPr>
      </p:pic>
      <p:pic>
        <p:nvPicPr>
          <p:cNvPr id="7" name="Image 1" descr="/home/claude/eval_confusion_matric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3246120"/>
            <a:ext cx="4846320" cy="173736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349240" y="822960"/>
            <a:ext cx="35204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5349240" y="822960"/>
            <a:ext cx="3520440" cy="34747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5440680" y="82296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4B8A6"/>
                </a:solidFill>
              </a:rPr>
              <a:t>Ablation Interpretation</a:t>
            </a:r>
            <a:endParaRPr lang="en-US" sz="1150" dirty="0"/>
          </a:p>
        </p:txBody>
      </p:sp>
      <p:sp>
        <p:nvSpPr>
          <p:cNvPr id="11" name="Text 7"/>
          <p:cNvSpPr/>
          <p:nvPr/>
        </p:nvSpPr>
        <p:spPr>
          <a:xfrm>
            <a:off x="5440680" y="1243584"/>
            <a:ext cx="333756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0D9488"/>
                </a:solidFill>
              </a:rPr>
              <a:t>GAT (graph) F1 = 0.765
</a:t>
            </a:r>
            <a:r>
              <a:rPr lang="en-US" sz="1050" dirty="0">
                <a:solidFill>
                  <a:srgbClr val="1E293B"/>
                </a:solidFill>
              </a:rPr>
              <a:t>MLP (no graph) F1 = 0.760
</a:t>
            </a:r>
            <a:r>
              <a:rPr lang="en-US" sz="1050" dirty="0">
                <a:solidFill>
                  <a:srgbClr val="64748B"/>
                </a:solidFill>
              </a:rPr>
              <a:t>Δ = +0.005 from graph structure
</a:t>
            </a:r>
            <a:r>
              <a:rPr lang="en-US" sz="1050" dirty="0">
                <a:solidFill>
                  <a:srgbClr val="1E293B"/>
                </a:solidFill>
              </a:rPr>
              <a:t>The graph provides a measurable positive signal. The modest gain is expected at this dataset scale (~1,688 nodes, k=5 edges) — GNNs typically show larger gains with larger, denser graphs.
</a:t>
            </a:r>
            <a:r>
              <a:rPr lang="en-US" sz="1050" i="1" dirty="0">
                <a:solidFill>
                  <a:srgbClr val="64748B"/>
                </a:solidFill>
              </a:rPr>
              <a:t>This is a valid scientific finding: graph structure helps, and larger datasets would amplify this effect.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5349240" y="3200400"/>
            <a:ext cx="35204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5349240" y="3200400"/>
            <a:ext cx="352044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5440680" y="320040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Confusion Matrix — GAT (better)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5440680" y="3621024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3E"/>
                </a:solidFill>
              </a:rPr>
              <a:t>True Positives (TP): </a:t>
            </a:r>
            <a:r>
              <a:rPr lang="en-US" sz="1000" dirty="0">
                <a:solidFill>
                  <a:srgbClr val="1E293B"/>
                </a:solidFill>
              </a:rPr>
              <a:t>93 disease correctly detected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5440680" y="3877056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3E"/>
                </a:solidFill>
              </a:rPr>
              <a:t>True Negatives (TN): </a:t>
            </a:r>
            <a:r>
              <a:rPr lang="en-US" sz="1000" dirty="0">
                <a:solidFill>
                  <a:srgbClr val="1E293B"/>
                </a:solidFill>
              </a:rPr>
              <a:t>104 healthy correctly identified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5440680" y="4133088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3E"/>
                </a:solidFill>
              </a:rPr>
              <a:t>False Positives (FP): </a:t>
            </a:r>
            <a:r>
              <a:rPr lang="en-US" sz="1000" dirty="0">
                <a:solidFill>
                  <a:srgbClr val="1E293B"/>
                </a:solidFill>
              </a:rPr>
              <a:t>33 healthy misclassified as disease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5440680" y="4389120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3E"/>
                </a:solidFill>
              </a:rPr>
              <a:t>False Negatives (FN): </a:t>
            </a:r>
            <a:r>
              <a:rPr lang="en-US" sz="1000" dirty="0">
                <a:solidFill>
                  <a:srgbClr val="1E293B"/>
                </a:solidFill>
              </a:rPr>
              <a:t>24 disease cases missed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Insights: Feature Importance &amp; Embeddings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229600" y="0"/>
            <a:ext cx="731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Slide 8</a:t>
            </a:r>
            <a:endParaRPr lang="en-US" sz="900" dirty="0"/>
          </a:p>
        </p:txBody>
      </p:sp>
      <p:pic>
        <p:nvPicPr>
          <p:cNvPr id="6" name="Image 0" descr="/home/claude/eval_feature_import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822960"/>
            <a:ext cx="3474720" cy="4160520"/>
          </a:xfrm>
          <a:prstGeom prst="rect">
            <a:avLst/>
          </a:prstGeom>
        </p:spPr>
      </p:pic>
      <p:pic>
        <p:nvPicPr>
          <p:cNvPr id="7" name="Image 1" descr="/home/claude/eval_node_embedding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1920" y="822960"/>
            <a:ext cx="4983480" cy="2231136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3931919" y="3200400"/>
            <a:ext cx="5154023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3931920" y="3127248"/>
            <a:ext cx="5154022" cy="34747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3977640" y="3127248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B8A6"/>
                </a:solidFill>
              </a:rPr>
              <a:t>Insights from Feature Importance &amp; t-SNE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3977640" y="3447288"/>
            <a:ext cx="4892040" cy="1335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</a:rPr>
              <a:t>Glucose (0.128) and Age (0.106) are dominant predictors — shared features across both diseases</a:t>
            </a:r>
            <a:endParaRPr lang="en-US" sz="9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</a:rPr>
              <a:t>Cardiac-specific features (oldpeak, exang, thalch) rank highly for heart disease classification</a:t>
            </a:r>
            <a:endParaRPr lang="en-US" sz="9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</a:rPr>
              <a:t>t-SNE shows GCN learned partial separation of healthy (green) vs. disease (red) clusters</a:t>
            </a:r>
            <a:endParaRPr lang="en-US" sz="9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</a:rPr>
              <a:t>Source separation (UCI blue vs. Pima orange) shows domain shift — different patient populations cluster distinctly even after feature alignment</a:t>
            </a:r>
            <a:endParaRPr lang="en-US" sz="9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</a:rPr>
              <a:t>Cross-dataset mixing in the middle of the embedding space confirms shared clinical patterns between heart disease and diabetes patients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1A2B55"/>
          </a:solidFill>
          <a:ln w="12700">
            <a:solidFill>
              <a:srgbClr val="1A2B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199632" y="0"/>
            <a:ext cx="54864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45720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Conclusion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11480" y="1097280"/>
            <a:ext cx="5303520" cy="45720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261872"/>
            <a:ext cx="256032" cy="256032"/>
          </a:xfrm>
          <a:prstGeom prst="ellipse">
            <a:avLst/>
          </a:prstGeom>
          <a:solidFill>
            <a:srgbClr val="0D9488"/>
          </a:solidFill>
          <a:ln w="6350">
            <a:solidFill>
              <a:srgbClr val="14B8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2618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49808" y="1243584"/>
            <a:ext cx="5212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Successfully merged two public health datasets into a unified patient similarity graph (1,688 nodes, 16,880 edges)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1480" y="1947672"/>
            <a:ext cx="256032" cy="256032"/>
          </a:xfrm>
          <a:prstGeom prst="ellipse">
            <a:avLst/>
          </a:prstGeom>
          <a:solidFill>
            <a:srgbClr val="0D9488"/>
          </a:solidFill>
          <a:ln w="6350">
            <a:solidFill>
              <a:srgbClr val="14B8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9476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49808" y="1929384"/>
            <a:ext cx="5212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GCN and GAT both achieve competitive performance (F1: 0.747–0.765, AUC: 0.828–0.835)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11480" y="2633472"/>
            <a:ext cx="256032" cy="256032"/>
          </a:xfrm>
          <a:prstGeom prst="ellipse">
            <a:avLst/>
          </a:prstGeom>
          <a:solidFill>
            <a:srgbClr val="0D9488"/>
          </a:solidFill>
          <a:ln w="6350">
            <a:solidFill>
              <a:srgbClr val="14B8A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26334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49808" y="2615184"/>
            <a:ext cx="5212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GAT outperforms MLP-no-graph (Δ F1 = +0.005), confirming that graph structure contributes to prediction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11480" y="3319272"/>
            <a:ext cx="256032" cy="256032"/>
          </a:xfrm>
          <a:prstGeom prst="ellipse">
            <a:avLst/>
          </a:prstGeom>
          <a:solidFill>
            <a:srgbClr val="0D9488"/>
          </a:solidFill>
          <a:ln w="6350">
            <a:solidFill>
              <a:srgbClr val="14B8A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33192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49808" y="3300984"/>
            <a:ext cx="5212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Glucose and age are the strongest cross-disease predictors — clinically meaningful finding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11480" y="4005072"/>
            <a:ext cx="256032" cy="256032"/>
          </a:xfrm>
          <a:prstGeom prst="ellipse">
            <a:avLst/>
          </a:prstGeom>
          <a:solidFill>
            <a:srgbClr val="0D9488"/>
          </a:solidFill>
          <a:ln w="6350">
            <a:solidFill>
              <a:srgbClr val="14B8A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40050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49808" y="3986784"/>
            <a:ext cx="5212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t-SNE embeddings reveal partial disease separation AND dataset domain shift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355080" y="41148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B8A6"/>
                </a:solidFill>
              </a:rPr>
              <a:t>Future Work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355080" y="786384"/>
            <a:ext cx="2606040" cy="36576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55080" y="914400"/>
            <a:ext cx="26060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</a:rPr>
              <a:t>Larger datasets for more pronounced graph signal</a:t>
            </a:r>
            <a:endParaRPr lang="en-US" sz="105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</a:rPr>
              <a:t>Dynamic graphs: update edges as patient data changes</a:t>
            </a:r>
            <a:endParaRPr lang="en-US" sz="105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</a:rPr>
              <a:t>GraphSAGE for inductive learning on new patients</a:t>
            </a:r>
            <a:endParaRPr lang="en-US" sz="105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</a:rPr>
              <a:t>Incorporate multi-omics or EHR temporal data</a:t>
            </a:r>
            <a:endParaRPr lang="en-US" sz="105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</a:rPr>
              <a:t>Explainability: GAT attention weight analysis per feature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0" y="4663440"/>
            <a:ext cx="6217920" cy="480060"/>
          </a:xfrm>
          <a:prstGeom prst="rect">
            <a:avLst/>
          </a:prstGeom>
          <a:solidFill>
            <a:srgbClr val="1A2B55"/>
          </a:solidFill>
          <a:ln w="12700">
            <a:solidFill>
              <a:srgbClr val="1A2B5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4663440"/>
            <a:ext cx="562356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94A3B8"/>
                </a:solidFill>
              </a:rPr>
              <a:t>Graph Neural Networks can capture patient similarity structure beyond tabular features — a promising direction for clinical risk prediction.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2520</TotalTime>
  <Words>1136</Words>
  <Application>Microsoft Macintosh PowerPoint</Application>
  <PresentationFormat>On-screen Show (16:9)</PresentationFormat>
  <Paragraphs>178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Disease Risk Prediction using Graph Neural Networks</dc:title>
  <dc:subject>PptxGenJS Presentation</dc:subject>
  <dc:creator>PptxGenJS</dc:creator>
  <cp:lastModifiedBy>saket dhanwate</cp:lastModifiedBy>
  <cp:revision>3</cp:revision>
  <dcterms:created xsi:type="dcterms:W3CDTF">2026-04-17T03:30:44Z</dcterms:created>
  <dcterms:modified xsi:type="dcterms:W3CDTF">2026-04-21T13:57:58Z</dcterms:modified>
</cp:coreProperties>
</file>